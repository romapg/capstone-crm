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63A82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206240"/>
            <a:ext cx="3840480" cy="3840480"/>
          </a:xfrm>
          <a:prstGeom prst="ellipse">
            <a:avLst/>
          </a:prstGeom>
          <a:solidFill>
            <a:srgbClr val="263A82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17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DIGITALIZACIÓN Y CONTROL DE GESTIÓN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HERMANOS PG SPA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02920" y="28803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7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tecnológica para profesionalizar la gestión, el control operativo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7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el control financiero de la empresa familiar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02920" y="3977640"/>
            <a:ext cx="2743200" cy="0"/>
          </a:xfrm>
          <a:prstGeom prst="line">
            <a:avLst/>
          </a:prstGeom>
          <a:noFill/>
          <a:ln w="25400">
            <a:solidFill>
              <a:srgbClr val="B891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4206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 DEL PROYECTO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449884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Romario Pocito  —  Tecnología y Control de Gestión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Familiar  ·  Fabricación de Urnas  ·  10 años de trayectoria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88375" y="5989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1.0  ·  Agosto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EQUIPO TÉCNICO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y Responsabilidades Técnicas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7C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desarrollado de forma individual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11183112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75688"/>
            <a:ext cx="658368" cy="658368"/>
          </a:xfrm>
          <a:prstGeom prst="ellipse">
            <a:avLst/>
          </a:prstGeom>
          <a:solidFill>
            <a:srgbClr val="B8912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756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91640" y="203911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Romario Pocito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91640" y="24414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Y CONTROL DE GESTIÓN  ·  DESARROLLADOR ÚNICO DEL PROYECTO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154680"/>
            <a:ext cx="5454396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342900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355848"/>
            <a:ext cx="43571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&amp; Backend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371600" y="3721608"/>
            <a:ext cx="43571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la base de datos y de la lógica de negocio que automatiza compras, ventas, producción e inventario.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31636" y="3154680"/>
            <a:ext cx="5454396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05956" y="342900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Text 16"/>
          <p:cNvSpPr/>
          <p:nvPr/>
        </p:nvSpPr>
        <p:spPr>
          <a:xfrm>
            <a:off x="6505956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05956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100316" y="3355848"/>
            <a:ext cx="43571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&amp; Reportes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100316" y="3721608"/>
            <a:ext cx="43571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de tableros e indicadores de gestión mensual: producción, ventas, finanzas, inventario y personas.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4754880"/>
            <a:ext cx="5454396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77240" y="502920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71600" y="4956048"/>
            <a:ext cx="43571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Levantamiento &amp; Control de Gestión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371600" y="5321808"/>
            <a:ext cx="43571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 reglas, formularios y flujos de trabajo de cada proceso antes de digitalizarlo.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31636" y="4754880"/>
            <a:ext cx="5454396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05956" y="502920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0" name="Text 28"/>
          <p:cNvSpPr/>
          <p:nvPr/>
        </p:nvSpPr>
        <p:spPr>
          <a:xfrm>
            <a:off x="6505956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05956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100316" y="4956048"/>
            <a:ext cx="43571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Infraestructura &amp; Datos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100316" y="5321808"/>
            <a:ext cx="43571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 de la base de datos, respaldo de la información y mantenimiento del sistema.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02920" y="65288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HERMANOS PG SPA  ·  Plan de Digitalización y Control de Gestión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591495" y="6528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DIAGNÓSTICO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Operacional vs. Propuesta de Solución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7C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en común: todo depende de una sola persona resolviendo todo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B3413E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14884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3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OPERACIONAL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3337560"/>
            <a:ext cx="4892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✖"/>
            </a:pPr>
            <a:r>
              <a:rPr lang="en-US" sz="130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comunicación interna y de canales claros para dar instrucciones.</a:t>
            </a:r>
            <a:endParaRPr lang="en-US" sz="1300" dirty="0"/>
          </a:p>
          <a:p>
            <a:pPr marL="342900" indent="-342900">
              <a:spcAft>
                <a:spcPts val="1800"/>
              </a:spcAft>
              <a:buSzPct val="100000"/>
              <a:buChar char="✖"/>
            </a:pPr>
            <a:r>
              <a:rPr lang="en-US" sz="130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una estructura formal de autoridad y responsabilidades.</a:t>
            </a:r>
            <a:endParaRPr lang="en-US" sz="1300" dirty="0"/>
          </a:p>
          <a:p>
            <a:pPr marL="342900" indent="-342900">
              <a:spcAft>
                <a:spcPts val="1800"/>
              </a:spcAft>
              <a:buSzPct val="100000"/>
              <a:buChar char="✖"/>
            </a:pPr>
            <a:r>
              <a:rPr lang="en-US" sz="130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Desorden en compras, ventas, producción, pagos y documentación.</a:t>
            </a:r>
            <a:endParaRPr lang="en-US" sz="1300" dirty="0"/>
          </a:p>
          <a:p>
            <a:pPr marL="342900" indent="-342900">
              <a:spcAft>
                <a:spcPts val="1800"/>
              </a:spcAft>
              <a:buSzPct val="100000"/>
              <a:buChar char="✖"/>
            </a:pPr>
            <a:r>
              <a:rPr lang="en-US" sz="130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total de una sola persona para resolver todo.</a:t>
            </a:r>
            <a:endParaRPr lang="en-US" sz="1300" dirty="0"/>
          </a:p>
          <a:p>
            <a:pPr marL="342900" indent="-342900">
              <a:spcAft>
                <a:spcPts val="1800"/>
              </a:spcAft>
              <a:buSzPct val="100000"/>
              <a:buChar char="✖"/>
            </a:pPr>
            <a:r>
              <a:rPr lang="en-US" sz="130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control confiable de las deudas y del flujo de dinero.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45352" y="192024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2E6B4F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19672" y="214884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PROPUESTA DE SOLUCIÓN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19672" y="3337560"/>
            <a:ext cx="4892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✓"/>
            </a:pPr>
            <a:r>
              <a:rPr lang="en-US" sz="130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Organigrama formal con jefaturas y responsabilidades claras.</a:t>
            </a:r>
            <a:endParaRPr lang="en-US" sz="1300" dirty="0"/>
          </a:p>
          <a:p>
            <a:pPr marL="342900" indent="-342900">
              <a:spcAft>
                <a:spcPts val="1800"/>
              </a:spcAft>
              <a:buSzPct val="100000"/>
              <a:buChar char="✓"/>
            </a:pPr>
            <a:r>
              <a:rPr lang="en-US" sz="130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documentados de compras, ventas y producción con trazabilidad.</a:t>
            </a:r>
            <a:endParaRPr lang="en-US" sz="1300" dirty="0"/>
          </a:p>
          <a:p>
            <a:pPr marL="342900" indent="-342900">
              <a:spcAft>
                <a:spcPts val="1800"/>
              </a:spcAft>
              <a:buSzPct val="100000"/>
              <a:buChar char="✓"/>
            </a:pPr>
            <a:r>
              <a:rPr lang="en-US" sz="130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digital de control de gestión con indicadores mensuales.</a:t>
            </a:r>
            <a:endParaRPr lang="en-US" sz="1300" dirty="0"/>
          </a:p>
          <a:p>
            <a:pPr marL="342900" indent="-342900">
              <a:spcAft>
                <a:spcPts val="1800"/>
              </a:spcAft>
              <a:buSzPct val="100000"/>
              <a:buChar char="✓"/>
            </a:pPr>
            <a:r>
              <a:rPr lang="en-US" sz="130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financiero centralizado: ingresos, egresos y flujo de caja.</a:t>
            </a:r>
            <a:endParaRPr lang="en-US" sz="1300" dirty="0"/>
          </a:p>
          <a:p>
            <a:pPr marL="342900" indent="-342900">
              <a:spcAft>
                <a:spcPts val="1800"/>
              </a:spcAft>
              <a:buSzPct val="100000"/>
              <a:buChar char="✓"/>
            </a:pPr>
            <a:r>
              <a:rPr lang="en-US" sz="130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formal entre movimientos de la empresa y de la familia.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65288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HERMANOS PG SPA  ·  Plan de Digitalización y Control de Gestión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591495" y="6528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FORMULACIÓN DEL PROYECTO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General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7C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Propósito y alcance de la transformación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11183112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0574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GENERAL: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359152"/>
            <a:ext cx="10561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“Transformar HERMANOS PG SPA en una empresa familiar organizada y digitalizada, mediante procesos claros, controles administrativos y financieros, y una plataforma tecnológica de gestión — conservando la experiencia de más de 10 años y construyendo una base sólida para los próximos 10.”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02920" y="3703320"/>
            <a:ext cx="544068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3904488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EL IMPACTO EN LA EMPRESA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4297680"/>
            <a:ext cx="4892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 formal y responsabilidades definidas por cargo.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basadas en datos confiables y actualizados.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sostenible sin depender de una sola persona.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45352" y="3703320"/>
            <a:ext cx="544068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19672" y="3904488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EL MEDIO: LA PLATAFORMA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19672" y="4297680"/>
            <a:ext cx="4892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gestión con módulos de ventas, compras, producción e inventario.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 indicadores mensuales por área.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financiero y de deudas centralizado.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65288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HERMANOS PG SPA  ·  Plan de Digitalización y Control de Gestión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591495" y="6528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OBJETIVOS ESPECÍFICOS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Fases Metodológicas del Proyecto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7C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necesarias para alcanzar el objetivo general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2603754" cy="4160520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1762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76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04088" y="2834640"/>
            <a:ext cx="22014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ORDEN Y AUTORIDAD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04088" y="3364992"/>
            <a:ext cx="22014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1–2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04088" y="3730752"/>
            <a:ext cx="220141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organigrama, cargos, jefaturas, reglamento interno, horarios y registro de asistencia.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62706" y="1920240"/>
            <a:ext cx="2603754" cy="4160520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91306" y="21762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3591306" y="2176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63874" y="2834640"/>
            <a:ext cx="22014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FINANCIERO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563874" y="3364992"/>
            <a:ext cx="22014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3–4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563874" y="3730752"/>
            <a:ext cx="220141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Levantar deudas, cuentas por cobrar y pagar, gastos, ingresos y flujo de caja; separar empresa y familia.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22492" y="1920240"/>
            <a:ext cx="2603754" cy="4160520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51092" y="21762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451092" y="2176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23660" y="2834640"/>
            <a:ext cx="22014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OPERATIVO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23660" y="3364992"/>
            <a:ext cx="22014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2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23660" y="3730752"/>
            <a:ext cx="220141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y ordenar compras, ventas, producción, inventario, despachos, proveedores y clientes.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082278" y="1920240"/>
            <a:ext cx="2603754" cy="4160520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310878" y="21762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9310878" y="2176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283446" y="2834640"/>
            <a:ext cx="22014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PLATAFORMA TECNOLÓGICA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283446" y="3364992"/>
            <a:ext cx="22014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3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283446" y="3730752"/>
            <a:ext cx="220141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base de datos, formularios, sistema, usuarios y permisos, dashboard y reportes.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2920" y="65288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HERMANOS PG SPA  ·  Plan de Digitalización y Control de Gestión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591495" y="6528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ALCANCE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 del Sistema y Delimitaciones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7C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cubiertos por la plataforma de gestión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57016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1488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7EEF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633472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Ventas y Clientes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944368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Emisión de ventas con ID único, datos del cliente y seguimiento de funerarias.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4315968" y="1920240"/>
            <a:ext cx="3557016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44568" y="21488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7EEFC"/>
          </a:solidFill>
          <a:ln/>
        </p:spPr>
      </p:sp>
      <p:sp>
        <p:nvSpPr>
          <p:cNvPr id="12" name="Text 10"/>
          <p:cNvSpPr/>
          <p:nvPr/>
        </p:nvSpPr>
        <p:spPr>
          <a:xfrm>
            <a:off x="4544568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44568" y="2633472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Compras y Proveedores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44568" y="2944368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Órdenes de compra, estado de cada pedido y evaluación de proveedores.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129016" y="1920240"/>
            <a:ext cx="3557016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57616" y="21488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7EEFC"/>
          </a:solidFill>
          <a:ln/>
        </p:spPr>
      </p:sp>
      <p:sp>
        <p:nvSpPr>
          <p:cNvPr id="17" name="Text 15"/>
          <p:cNvSpPr/>
          <p:nvPr/>
        </p:nvSpPr>
        <p:spPr>
          <a:xfrm>
            <a:off x="8357616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57616" y="2633472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Producción y Trazabilidad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57616" y="2944368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Producción por etapa: corte, armado, barnizado y terminaciones.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502920" y="3867912"/>
            <a:ext cx="3557016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40965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7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4581144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Inventario y Alertas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4892040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mínimo, entradas, salidas y alertas automáticas por insumo.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4315968" y="3867912"/>
            <a:ext cx="3557016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44568" y="40965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7EEFC"/>
          </a:solidFill>
          <a:ln/>
        </p:spPr>
      </p:sp>
      <p:sp>
        <p:nvSpPr>
          <p:cNvPr id="27" name="Text 25"/>
          <p:cNvSpPr/>
          <p:nvPr/>
        </p:nvSpPr>
        <p:spPr>
          <a:xfrm>
            <a:off x="4544568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44568" y="4581144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Asistencia y Personal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44568" y="4892040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entrada, salida, atrasos, permisos y horas extraordinarias.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8129016" y="3867912"/>
            <a:ext cx="3557016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57616" y="40965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7EEFC"/>
          </a:solidFill>
          <a:ln/>
        </p:spPr>
      </p:sp>
      <p:sp>
        <p:nvSpPr>
          <p:cNvPr id="32" name="Text 30"/>
          <p:cNvSpPr/>
          <p:nvPr/>
        </p:nvSpPr>
        <p:spPr>
          <a:xfrm>
            <a:off x="8357616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57616" y="4581144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Finanzas y Deudas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357616" y="4892040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Ingresos, egresos, flujo de caja y control de deudas por cobrar y pagar.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502920" y="5815584"/>
            <a:ext cx="11183112" cy="594360"/>
          </a:xfrm>
          <a:prstGeom prst="roundRect">
            <a:avLst>
              <a:gd name="adj" fmla="val 12308"/>
            </a:avLst>
          </a:prstGeom>
          <a:solidFill>
            <a:srgbClr val="E7EEFC"/>
          </a:solidFill>
          <a:ln w="12700">
            <a:solidFill>
              <a:srgbClr val="E7EE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5815584"/>
            <a:ext cx="10634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Delimitación: el sistema se diseña a la medida de una empresa familiar en crecimiento, cumpliendo la normativa laboral chilena aplicable.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2920" y="65288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HERMANOS PG SPA  ·  Plan de Digitalización y Control de Gestión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591495" y="6528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REQUERIMIENTOS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Requerimientos del Sistema (RF y RNF)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7C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Especificación funcional y no funcional de la plataforma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920240"/>
            <a:ext cx="544068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2024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 FUNCIONALES (RF)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487168"/>
            <a:ext cx="777240" cy="449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554480" y="2487168"/>
            <a:ext cx="4160520" cy="449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asistencia con cálculo automático de horas y atrasos.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731520" y="2936367"/>
            <a:ext cx="777240" cy="449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554480" y="2936367"/>
            <a:ext cx="4160520" cy="449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Emisión de ventas con ID único, cliente, RUT, producto e IVA.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731520" y="3385566"/>
            <a:ext cx="777240" cy="449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554480" y="3385566"/>
            <a:ext cx="4160520" cy="449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y seguimiento de órdenes de compra por proveedor.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731520" y="3834765"/>
            <a:ext cx="777240" cy="449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RF-04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554480" y="3834765"/>
            <a:ext cx="4160520" cy="449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de órdenes de producción por etapa.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731520" y="4283964"/>
            <a:ext cx="777240" cy="449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RF-05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554480" y="4283964"/>
            <a:ext cx="4160520" cy="449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inventario con stock mínimo y alertas automáticas.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731520" y="4733163"/>
            <a:ext cx="777240" cy="449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RF-06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554480" y="4733163"/>
            <a:ext cx="4160520" cy="449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ingresos, egresos y flujo de caja mensual.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731520" y="5182362"/>
            <a:ext cx="777240" cy="449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RF-07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554480" y="5182362"/>
            <a:ext cx="4160520" cy="449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y seguimiento de deudas por cobrar y por pagar.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731520" y="5631561"/>
            <a:ext cx="777240" cy="449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RF-08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554480" y="5631561"/>
            <a:ext cx="4160520" cy="449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indicadores de gestión mensual por área.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6245352" y="1920240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45352" y="1920240"/>
            <a:ext cx="5440680" cy="457200"/>
          </a:xfrm>
          <a:prstGeom prst="rect">
            <a:avLst/>
          </a:prstGeom>
          <a:solidFill>
            <a:srgbClr val="B8912E"/>
          </a:solidFill>
          <a:ln/>
        </p:spPr>
      </p:sp>
      <p:sp>
        <p:nvSpPr>
          <p:cNvPr id="26" name="Text 24"/>
          <p:cNvSpPr/>
          <p:nvPr/>
        </p:nvSpPr>
        <p:spPr>
          <a:xfrm>
            <a:off x="6473952" y="192024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 NO FUNCIONALES (RNF)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73952" y="2487168"/>
            <a:ext cx="777240" cy="449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RNF-01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296912" y="2487168"/>
            <a:ext cx="4160520" cy="449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de la normativa laboral chilena vigente.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6473952" y="2936367"/>
            <a:ext cx="777240" cy="449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RNF-02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296912" y="2936367"/>
            <a:ext cx="4160520" cy="449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automáticas al llegar a stock mínimo.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6473952" y="3385566"/>
            <a:ext cx="777240" cy="449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RNF-03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296912" y="3385566"/>
            <a:ext cx="4160520" cy="449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disponibles y actualizados para consulta diaria.</a:t>
            </a: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6473952" y="3834765"/>
            <a:ext cx="777240" cy="449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RNF-04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296912" y="3834765"/>
            <a:ext cx="4160520" cy="449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de registros de la empresa y de la familia.</a:t>
            </a:r>
            <a:endParaRPr lang="en-US" sz="1080" dirty="0"/>
          </a:p>
        </p:txBody>
      </p:sp>
      <p:sp>
        <p:nvSpPr>
          <p:cNvPr id="35" name="Text 33"/>
          <p:cNvSpPr/>
          <p:nvPr/>
        </p:nvSpPr>
        <p:spPr>
          <a:xfrm>
            <a:off x="6473952" y="4283964"/>
            <a:ext cx="777240" cy="449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RNF-05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296912" y="4283964"/>
            <a:ext cx="4160520" cy="449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simple, usable por personal sin formación técnica.</a:t>
            </a:r>
            <a:endParaRPr lang="en-US" sz="1080" dirty="0"/>
          </a:p>
        </p:txBody>
      </p:sp>
      <p:sp>
        <p:nvSpPr>
          <p:cNvPr id="37" name="Text 35"/>
          <p:cNvSpPr/>
          <p:nvPr/>
        </p:nvSpPr>
        <p:spPr>
          <a:xfrm>
            <a:off x="6473952" y="4733163"/>
            <a:ext cx="777240" cy="449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RNF-06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296912" y="4733163"/>
            <a:ext cx="4160520" cy="449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y respaldo de la información histórica.</a:t>
            </a:r>
            <a:endParaRPr lang="en-US" sz="1080" dirty="0"/>
          </a:p>
        </p:txBody>
      </p:sp>
      <p:sp>
        <p:nvSpPr>
          <p:cNvPr id="39" name="Text 37"/>
          <p:cNvSpPr/>
          <p:nvPr/>
        </p:nvSpPr>
        <p:spPr>
          <a:xfrm>
            <a:off x="6473952" y="5182362"/>
            <a:ext cx="777240" cy="449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RNF-07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296912" y="5182362"/>
            <a:ext cx="4160520" cy="449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 para incorporar nuevos módulos (ej. funeraria).</a:t>
            </a:r>
            <a:endParaRPr lang="en-US" sz="1080" dirty="0"/>
          </a:p>
        </p:txBody>
      </p:sp>
      <p:sp>
        <p:nvSpPr>
          <p:cNvPr id="41" name="Text 39"/>
          <p:cNvSpPr/>
          <p:nvPr/>
        </p:nvSpPr>
        <p:spPr>
          <a:xfrm>
            <a:off x="6473952" y="5631561"/>
            <a:ext cx="777240" cy="449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RNF-08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296912" y="5631561"/>
            <a:ext cx="4160520" cy="449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mensuales exportables para la reunión de equipo.</a:t>
            </a:r>
            <a:endParaRPr lang="en-US" sz="1080" dirty="0"/>
          </a:p>
        </p:txBody>
      </p:sp>
      <p:sp>
        <p:nvSpPr>
          <p:cNvPr id="43" name="Text 41"/>
          <p:cNvSpPr/>
          <p:nvPr/>
        </p:nvSpPr>
        <p:spPr>
          <a:xfrm>
            <a:off x="502920" y="65288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HERMANOS PG SPA  ·  Plan de Digitalización y Control de Gestión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591495" y="6528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METODOLOGÍA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los Procesos al Sistema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7C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recomienda programar sin antes levantar y documentar cómo trabaja realmente la empresa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2075688" cy="822960"/>
          </a:xfrm>
          <a:prstGeom prst="roundRect">
            <a:avLst>
              <a:gd name="adj" fmla="val 8889"/>
            </a:avLst>
          </a:prstGeom>
          <a:solidFill>
            <a:srgbClr val="E7EEFC"/>
          </a:solidFill>
          <a:ln w="12700">
            <a:solidFill>
              <a:srgbClr val="E7EE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965960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78608" y="1965960"/>
            <a:ext cx="201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79776" y="1965960"/>
            <a:ext cx="2075688" cy="822960"/>
          </a:xfrm>
          <a:prstGeom prst="roundRect">
            <a:avLst>
              <a:gd name="adj" fmla="val 8889"/>
            </a:avLst>
          </a:prstGeom>
          <a:solidFill>
            <a:srgbClr val="E7EEFC"/>
          </a:solidFill>
          <a:ln w="12700">
            <a:solidFill>
              <a:srgbClr val="E7EE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79776" y="1965960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55464" y="1965960"/>
            <a:ext cx="201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56632" y="1965960"/>
            <a:ext cx="2075688" cy="822960"/>
          </a:xfrm>
          <a:prstGeom prst="roundRect">
            <a:avLst>
              <a:gd name="adj" fmla="val 8889"/>
            </a:avLst>
          </a:prstGeom>
          <a:solidFill>
            <a:srgbClr val="E7EEFC"/>
          </a:solidFill>
          <a:ln w="12700">
            <a:solidFill>
              <a:srgbClr val="E7EE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56632" y="1965960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FORMULARIO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32320" y="1965960"/>
            <a:ext cx="201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33488" y="1965960"/>
            <a:ext cx="2075688" cy="822960"/>
          </a:xfrm>
          <a:prstGeom prst="roundRect">
            <a:avLst>
              <a:gd name="adj" fmla="val 8889"/>
            </a:avLst>
          </a:prstGeom>
          <a:solidFill>
            <a:srgbClr val="E7EEFC"/>
          </a:solidFill>
          <a:ln w="12700">
            <a:solidFill>
              <a:srgbClr val="E7EE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33488" y="1965960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DATOS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409176" y="1965960"/>
            <a:ext cx="201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610344" y="1965960"/>
            <a:ext cx="2075688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10344" y="1965960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3200400"/>
            <a:ext cx="3544824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3200400"/>
            <a:ext cx="3544824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200400"/>
            <a:ext cx="3087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LEVANTAMIENTO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3822192"/>
            <a:ext cx="308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 – 4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31520" y="4160520"/>
            <a:ext cx="30876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Reglamento interno, mapeo de procesos y diseño de formularios de trabajo.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22064" y="3200400"/>
            <a:ext cx="3544824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22064" y="3200400"/>
            <a:ext cx="3544824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550664" y="3200400"/>
            <a:ext cx="3087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CONSTRUCCIÓN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50664" y="3822192"/>
            <a:ext cx="308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5 – 10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50664" y="4160520"/>
            <a:ext cx="30876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la base de datos y desarrollo de los módulos principales del sistema.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41208" y="3200400"/>
            <a:ext cx="3544824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41208" y="3200400"/>
            <a:ext cx="3544824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8369808" y="3200400"/>
            <a:ext cx="3087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VALIDACIÓN Y CIERRE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369808" y="3822192"/>
            <a:ext cx="308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11 – 12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369808" y="4160520"/>
            <a:ext cx="30876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con datos reales de la empresa, ajustes finales y entrega del sistema.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2920" y="65288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HERMANOS PG SPA  ·  Plan de Digitalización y Control de Gestión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591495" y="6528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CRONOGRAMA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Implementación — 90 Días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7C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Camino de hitos y metas clave del proyecto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2603754" cy="4114800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30477" y="1691640"/>
            <a:ext cx="548640" cy="548640"/>
          </a:xfrm>
          <a:prstGeom prst="ellipse">
            <a:avLst/>
          </a:prstGeom>
          <a:solidFill>
            <a:srgbClr val="B8912E"/>
          </a:solidFill>
          <a:ln/>
        </p:spPr>
      </p:sp>
      <p:sp>
        <p:nvSpPr>
          <p:cNvPr id="7" name="Text 5"/>
          <p:cNvSpPr/>
          <p:nvPr/>
        </p:nvSpPr>
        <p:spPr>
          <a:xfrm>
            <a:off x="1530477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423160"/>
            <a:ext cx="22379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ORDEN Y AUTORIDAD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85800" y="2971800"/>
            <a:ext cx="22379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1–2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60120" y="3383280"/>
            <a:ext cx="1689354" cy="0"/>
          </a:xfrm>
          <a:prstGeom prst="line">
            <a:avLst/>
          </a:prstGeom>
          <a:noFill/>
          <a:ln w="12700">
            <a:solidFill>
              <a:srgbClr val="DCE3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566160"/>
            <a:ext cx="214655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Organigrama, cargos, jefaturas, reglamento, horarios, asistencia, reunión semanal.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62706" y="1965960"/>
            <a:ext cx="2603754" cy="4114800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90263" y="1691640"/>
            <a:ext cx="548640" cy="548640"/>
          </a:xfrm>
          <a:prstGeom prst="ellipse">
            <a:avLst/>
          </a:prstGeom>
          <a:solidFill>
            <a:srgbClr val="B8912E"/>
          </a:solidFill>
          <a:ln/>
        </p:spPr>
      </p:sp>
      <p:sp>
        <p:nvSpPr>
          <p:cNvPr id="14" name="Text 12"/>
          <p:cNvSpPr/>
          <p:nvPr/>
        </p:nvSpPr>
        <p:spPr>
          <a:xfrm>
            <a:off x="4390263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45586" y="2423160"/>
            <a:ext cx="22379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DINERO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545586" y="2971800"/>
            <a:ext cx="22379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3–4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819906" y="3383280"/>
            <a:ext cx="1689354" cy="0"/>
          </a:xfrm>
          <a:prstGeom prst="line">
            <a:avLst/>
          </a:prstGeom>
          <a:noFill/>
          <a:ln w="12700">
            <a:solidFill>
              <a:srgbClr val="DCE3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91306" y="3566160"/>
            <a:ext cx="214655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Deudas, cuentas por cobrar/pagar, gastos, ingresos, flujo de caja, separación empresa/familia.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22492" y="1965960"/>
            <a:ext cx="2603754" cy="4114800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50049" y="1691640"/>
            <a:ext cx="548640" cy="548640"/>
          </a:xfrm>
          <a:prstGeom prst="ellipse">
            <a:avLst/>
          </a:prstGeom>
          <a:solidFill>
            <a:srgbClr val="B8912E"/>
          </a:solidFill>
          <a:ln/>
        </p:spPr>
      </p:sp>
      <p:sp>
        <p:nvSpPr>
          <p:cNvPr id="21" name="Text 19"/>
          <p:cNvSpPr/>
          <p:nvPr/>
        </p:nvSpPr>
        <p:spPr>
          <a:xfrm>
            <a:off x="7250049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5372" y="2423160"/>
            <a:ext cx="22379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OPERACIÓN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05372" y="2971800"/>
            <a:ext cx="22379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2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679692" y="3383280"/>
            <a:ext cx="1689354" cy="0"/>
          </a:xfrm>
          <a:prstGeom prst="line">
            <a:avLst/>
          </a:prstGeom>
          <a:noFill/>
          <a:ln w="12700">
            <a:solidFill>
              <a:srgbClr val="DCE3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51092" y="3566160"/>
            <a:ext cx="214655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Compras, ventas, producción, inventario, despachos, proveedores y clientes.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082278" y="1965960"/>
            <a:ext cx="2603754" cy="4114800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109835" y="1691640"/>
            <a:ext cx="548640" cy="548640"/>
          </a:xfrm>
          <a:prstGeom prst="ellipse">
            <a:avLst/>
          </a:prstGeom>
          <a:solidFill>
            <a:srgbClr val="B8912E"/>
          </a:solidFill>
          <a:ln/>
        </p:spPr>
      </p:sp>
      <p:sp>
        <p:nvSpPr>
          <p:cNvPr id="28" name="Text 26"/>
          <p:cNvSpPr/>
          <p:nvPr/>
        </p:nvSpPr>
        <p:spPr>
          <a:xfrm>
            <a:off x="10109835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265158" y="2423160"/>
            <a:ext cx="22379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TECNOLOGÍA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9265158" y="2971800"/>
            <a:ext cx="22379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3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539478" y="3383280"/>
            <a:ext cx="1689354" cy="0"/>
          </a:xfrm>
          <a:prstGeom prst="line">
            <a:avLst/>
          </a:prstGeom>
          <a:noFill/>
          <a:ln w="12700">
            <a:solidFill>
              <a:srgbClr val="DCE3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10878" y="3566160"/>
            <a:ext cx="214655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datos, formularios, sistema, usuarios y permisos, dashboard y reportes.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02920" y="65288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HERMANOS PG SPA  ·  Plan de Digitalización y Control de Gestión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591495" y="6528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STACK TECNOLÓGICO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Tecnológico Propuesto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7C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propuestas para construir la plataforma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2603754" cy="3794760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920240"/>
            <a:ext cx="2603754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920240"/>
            <a:ext cx="22379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DASHBOARD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651760"/>
            <a:ext cx="228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651760"/>
            <a:ext cx="2009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/ Next.js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2971800"/>
            <a:ext cx="2009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web responsivo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685800" y="3566160"/>
            <a:ext cx="228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3566160"/>
            <a:ext cx="2009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Chart.js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3886200"/>
            <a:ext cx="2009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e indicadores de gestión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3362706" y="1920240"/>
            <a:ext cx="2603754" cy="3794760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62706" y="1920240"/>
            <a:ext cx="2603754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3545586" y="1920240"/>
            <a:ext cx="22379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BASE DE DATOS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45586" y="2651760"/>
            <a:ext cx="228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74186" y="2651760"/>
            <a:ext cx="2009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 / Express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774186" y="2971800"/>
            <a:ext cx="2009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para todos los módulos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3545586" y="3566160"/>
            <a:ext cx="228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774186" y="3566160"/>
            <a:ext cx="2009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774186" y="3886200"/>
            <a:ext cx="2009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relacional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6222492" y="1920240"/>
            <a:ext cx="2603754" cy="3794760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22492" y="1920240"/>
            <a:ext cx="2603754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405372" y="1920240"/>
            <a:ext cx="22379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&amp; RESPALDO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5372" y="2651760"/>
            <a:ext cx="228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633972" y="2651760"/>
            <a:ext cx="2009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Hosting Cloud (VPS)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633972" y="2971800"/>
            <a:ext cx="2009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del sistema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6405372" y="3566160"/>
            <a:ext cx="228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633972" y="3566160"/>
            <a:ext cx="2009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Backups automáticos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633972" y="3886200"/>
            <a:ext cx="2009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Respaldo diario de la información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9082278" y="1920240"/>
            <a:ext cx="2603754" cy="3794760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082278" y="1920240"/>
            <a:ext cx="2603754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9265158" y="1920240"/>
            <a:ext cx="22379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DE GESTIÓN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265158" y="2651760"/>
            <a:ext cx="228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493758" y="2651760"/>
            <a:ext cx="2009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Workspace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9493758" y="2971800"/>
            <a:ext cx="2009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Transición y respaldo de datos</a:t>
            </a:r>
            <a:endParaRPr lang="en-US" sz="1080" dirty="0"/>
          </a:p>
        </p:txBody>
      </p:sp>
      <p:sp>
        <p:nvSpPr>
          <p:cNvPr id="38" name="Text 36"/>
          <p:cNvSpPr/>
          <p:nvPr/>
        </p:nvSpPr>
        <p:spPr>
          <a:xfrm>
            <a:off x="9265158" y="3566160"/>
            <a:ext cx="228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493758" y="3566160"/>
            <a:ext cx="2009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de versiones (Git)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9493758" y="3886200"/>
            <a:ext cx="2009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cambios del sistema</a:t>
            </a:r>
            <a:endParaRPr lang="en-US" sz="1080" dirty="0"/>
          </a:p>
        </p:txBody>
      </p:sp>
      <p:sp>
        <p:nvSpPr>
          <p:cNvPr id="41" name="Shape 39"/>
          <p:cNvSpPr/>
          <p:nvPr/>
        </p:nvSpPr>
        <p:spPr>
          <a:xfrm>
            <a:off x="502920" y="5916168"/>
            <a:ext cx="11183112" cy="502920"/>
          </a:xfrm>
          <a:prstGeom prst="roundRect">
            <a:avLst>
              <a:gd name="adj" fmla="val 14545"/>
            </a:avLst>
          </a:prstGeom>
          <a:solidFill>
            <a:srgbClr val="E7EEFC"/>
          </a:solidFill>
          <a:ln w="12700">
            <a:solidFill>
              <a:srgbClr val="E7EE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7240" y="5916168"/>
            <a:ext cx="10634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preliminar — la elección final del stack se ajustará según disponibilidad de infraestructura y presupuesto de la empresa.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02920" y="65288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HERMANOS PG SPA  ·  Plan de Digitalización y Control de Gestión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591495" y="6528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ARQUITECTURA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del Sistema: Diseño por Capas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7C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lógica de la plataforma de gestión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11183112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9659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89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 DE PRESENTACIÓN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251960" y="2130552"/>
            <a:ext cx="0" cy="585216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965960"/>
            <a:ext cx="6885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web responsivo con indicadores por área: ventas, producción, inventario y finanzas.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3081528"/>
            <a:ext cx="11183112" cy="914400"/>
          </a:xfrm>
          <a:prstGeom prst="roundRect">
            <a:avLst>
              <a:gd name="adj" fmla="val 8000"/>
            </a:avLst>
          </a:prstGeom>
          <a:solidFill>
            <a:srgbClr val="263A82"/>
          </a:solidFill>
          <a:ln w="12700">
            <a:solidFill>
              <a:srgbClr val="263A8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3081528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89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 DE LÓGICA Y REGLAS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251960" y="3246120"/>
            <a:ext cx="0" cy="585216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3081528"/>
            <a:ext cx="6885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negocio: alertas de stock mínimo, cálculo de atrasos y cierre del flujo de caja.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197096"/>
            <a:ext cx="11183112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4197096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89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 DE DATOS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251960" y="4361688"/>
            <a:ext cx="0" cy="585216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4197096"/>
            <a:ext cx="6885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relacional: ventas, compras, producción, inventario, finanzas y personas.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5312664"/>
            <a:ext cx="11183112" cy="914400"/>
          </a:xfrm>
          <a:prstGeom prst="roundRect">
            <a:avLst>
              <a:gd name="adj" fmla="val 8000"/>
            </a:avLst>
          </a:prstGeom>
          <a:solidFill>
            <a:srgbClr val="263A82"/>
          </a:solidFill>
          <a:ln w="12700">
            <a:solidFill>
              <a:srgbClr val="263A8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5312664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89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 OPERATIVA (TERRENO)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251960" y="5477256"/>
            <a:ext cx="0" cy="585216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0" y="5312664"/>
            <a:ext cx="6885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de bodega, producción, ventas y despachos que alimentan el sistema.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2920" y="65288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HERMANOS PG SPA  ·  Plan de Digitalización y Control de Gestión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591495" y="6528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MODELO DE DATOS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Entidades Principales del Sistema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7C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conceptual de la información a gestionar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262432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13916" y="2121408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1613916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633472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Trabajadores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67512" y="3017520"/>
            <a:ext cx="2295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Cargo, jornada, sueldo, asistencia y horas extra.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55848" y="1920240"/>
            <a:ext cx="262432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66844" y="2121408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466844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93008" y="2633472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Clientes / Funerarias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520440" y="3017520"/>
            <a:ext cx="2295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comerciales, modelos comprados y saldo.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08776" y="1920240"/>
            <a:ext cx="262432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9772" y="2121408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319772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45936" y="2633472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Proveedores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73368" y="3017520"/>
            <a:ext cx="2295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Contacto, productos, precios y condiciones de pago.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61704" y="1920240"/>
            <a:ext cx="262432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172700" y="2121408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10172700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98864" y="2633472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226296" y="3017520"/>
            <a:ext cx="2295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único, cliente, producto, cantidad y forma de pago.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4069080"/>
            <a:ext cx="262432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613916" y="4270248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1613916" y="4270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4782312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Órdenes de Compra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67512" y="5166360"/>
            <a:ext cx="2295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Producto, proveedor, precio, responsable y estado.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55848" y="4069080"/>
            <a:ext cx="262432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466844" y="4270248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4466844" y="4270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493008" y="4782312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Órdenes de Producción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3520440" y="5166360"/>
            <a:ext cx="2295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Cliente, modelo, cantidad y etapa del proceso.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08776" y="4069080"/>
            <a:ext cx="262432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319772" y="4270248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7319772" y="4270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45936" y="4782312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Inventario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373368" y="5166360"/>
            <a:ext cx="2295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 prima, stock actual, mínimo y movimientos.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061704" y="4069080"/>
            <a:ext cx="262432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0172700" y="4270248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42" name="Text 40"/>
          <p:cNvSpPr/>
          <p:nvPr/>
        </p:nvSpPr>
        <p:spPr>
          <a:xfrm>
            <a:off x="10172700" y="4270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198864" y="4782312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Movimientos Financieros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9226296" y="5166360"/>
            <a:ext cx="2295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Ingresos, egresos, deudas y flujo de caja.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02920" y="65288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HERMANOS PG SPA  ·  Plan de Digitalización y Control de Gestión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591495" y="6528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ORGANIZACIÓN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Organizacional de la Empresa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7C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trabajador debe conocer a quién reporta y quién autoriza sus permisos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449928" y="1965960"/>
            <a:ext cx="329184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449928" y="19659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GERENCIA GENERAL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449928" y="23317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Mario Pocito · Padre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95848" y="2651760"/>
            <a:ext cx="0" cy="320040"/>
          </a:xfrm>
          <a:prstGeom prst="line">
            <a:avLst/>
          </a:prstGeom>
          <a:noFill/>
          <a:ln w="19050">
            <a:solidFill>
              <a:srgbClr val="7C8A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7320" y="2971800"/>
            <a:ext cx="9357055" cy="0"/>
          </a:xfrm>
          <a:prstGeom prst="line">
            <a:avLst/>
          </a:prstGeom>
          <a:noFill/>
          <a:ln w="19050">
            <a:solidFill>
              <a:srgbClr val="7C8A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04797" y="2971800"/>
            <a:ext cx="0" cy="182880"/>
          </a:xfrm>
          <a:prstGeom prst="line">
            <a:avLst/>
          </a:prstGeom>
          <a:noFill/>
          <a:ln w="19050">
            <a:solidFill>
              <a:srgbClr val="7C8A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3154680"/>
            <a:ext cx="2603754" cy="3063240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7512" y="3337560"/>
            <a:ext cx="22745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Administración y Finanzas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4023360"/>
            <a:ext cx="1872234" cy="0"/>
          </a:xfrm>
          <a:prstGeom prst="line">
            <a:avLst/>
          </a:prstGeom>
          <a:noFill/>
          <a:ln w="12700">
            <a:solidFill>
              <a:srgbClr val="DCE3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4160520"/>
            <a:ext cx="22745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Verónica Gurreonero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67512" y="4416552"/>
            <a:ext cx="22745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C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4754880"/>
            <a:ext cx="223799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Facturación, guías, cobranzas y coordinación de pagos.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4583" y="2971800"/>
            <a:ext cx="0" cy="182880"/>
          </a:xfrm>
          <a:prstGeom prst="line">
            <a:avLst/>
          </a:prstGeom>
          <a:noFill/>
          <a:ln w="19050">
            <a:solidFill>
              <a:srgbClr val="7C8A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62706" y="3154680"/>
            <a:ext cx="2603754" cy="3063240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527298" y="3337560"/>
            <a:ext cx="22745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Operaciones / Producción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728466" y="4023360"/>
            <a:ext cx="1872234" cy="0"/>
          </a:xfrm>
          <a:prstGeom prst="line">
            <a:avLst/>
          </a:prstGeom>
          <a:noFill/>
          <a:ln w="12700">
            <a:solidFill>
              <a:srgbClr val="DCE3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7298" y="4160520"/>
            <a:ext cx="22745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Andrés Pocito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527298" y="4416552"/>
            <a:ext cx="22745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C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Hijo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545586" y="4754880"/>
            <a:ext cx="223799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Compras, costos, planificación y control administrativo.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524369" y="2971800"/>
            <a:ext cx="0" cy="182880"/>
          </a:xfrm>
          <a:prstGeom prst="line">
            <a:avLst/>
          </a:prstGeom>
          <a:noFill/>
          <a:ln w="19050">
            <a:solidFill>
              <a:srgbClr val="7C8AA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22492" y="3154680"/>
            <a:ext cx="2603754" cy="3063240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87084" y="3337560"/>
            <a:ext cx="22745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Logística y Distribución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88252" y="4023360"/>
            <a:ext cx="1872234" cy="0"/>
          </a:xfrm>
          <a:prstGeom prst="line">
            <a:avLst/>
          </a:prstGeom>
          <a:noFill/>
          <a:ln w="12700">
            <a:solidFill>
              <a:srgbClr val="DCE3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87084" y="4160520"/>
            <a:ext cx="22745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Rivaldo Pocito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387084" y="4416552"/>
            <a:ext cx="22745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C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Hijo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5372" y="4754880"/>
            <a:ext cx="223799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Despachos, rutas, entregas y futura gestión de la funeraria.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0384155" y="2971800"/>
            <a:ext cx="0" cy="182880"/>
          </a:xfrm>
          <a:prstGeom prst="line">
            <a:avLst/>
          </a:prstGeom>
          <a:noFill/>
          <a:ln w="19050">
            <a:solidFill>
              <a:srgbClr val="7C8AA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82278" y="3154680"/>
            <a:ext cx="2603754" cy="3063240"/>
          </a:xfrm>
          <a:prstGeom prst="roundRect">
            <a:avLst>
              <a:gd name="adj" fmla="val 2809"/>
            </a:avLst>
          </a:prstGeom>
          <a:solidFill>
            <a:srgbClr val="E7EEFC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246870" y="3337560"/>
            <a:ext cx="22745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Tecnología y Control de Gestión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448038" y="4023360"/>
            <a:ext cx="1872234" cy="0"/>
          </a:xfrm>
          <a:prstGeom prst="line">
            <a:avLst/>
          </a:prstGeom>
          <a:noFill/>
          <a:ln w="12700">
            <a:solidFill>
              <a:srgbClr val="DCE3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46870" y="4160520"/>
            <a:ext cx="22745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Romario Pocito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9246870" y="4416552"/>
            <a:ext cx="22745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C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Hijo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265158" y="4754880"/>
            <a:ext cx="223799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Sistemas, automatización, bases de datos, reportes e indicadores.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02920" y="65288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HERMANOS PG SPA  ·  Plan de Digitalización y Control de Gestión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591495" y="6528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VISTA PREVIA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Vista Previa del Dashboard de Control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7C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del tipo de información que consolidará el sistema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260375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84832"/>
            <a:ext cx="22379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C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DEL MES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2377440"/>
            <a:ext cx="22379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urnas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362706" y="1920240"/>
            <a:ext cx="260375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45586" y="2084832"/>
            <a:ext cx="22379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C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PRODUCCIÓN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45586" y="2377440"/>
            <a:ext cx="22379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urnas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222492" y="1920240"/>
            <a:ext cx="260375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5372" y="2084832"/>
            <a:ext cx="22379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C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COBRAR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5372" y="2377440"/>
            <a:ext cx="22379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$2.300.000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082278" y="1920240"/>
            <a:ext cx="260375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65158" y="2084832"/>
            <a:ext cx="22379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C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DE STOCK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265158" y="2377440"/>
            <a:ext cx="22379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34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Barniz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502920" y="365760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38221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ASISTENCIA — EJEMPLO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4160520"/>
          <a:ext cx="50292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61288"/>
                <a:gridCol w="1161288"/>
                <a:gridCol w="115214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Trabajador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Salida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Atraso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E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E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08:02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E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18:00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E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E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E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07:58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E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18:05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E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E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Carlos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E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08:15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E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18:00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E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6245352" y="365760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473952" y="38221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— EJEMPLO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473952" y="4251960"/>
            <a:ext cx="4983480" cy="502920"/>
          </a:xfrm>
          <a:prstGeom prst="roundRect">
            <a:avLst>
              <a:gd name="adj" fmla="val 10909"/>
            </a:avLst>
          </a:prstGeom>
          <a:solidFill>
            <a:srgbClr val="FBEAEA"/>
          </a:solidFill>
          <a:ln w="12700">
            <a:solidFill>
              <a:srgbClr val="B3413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75120" y="425196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3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Barniz — bajo stock mínimo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6473952" y="489204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automáticas cuando un insumo llega a su stock mínimo, calculadas a partir de entradas, salidas y responsable de cada movimiento.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02920" y="65288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HERMANOS PG SPA  ·  Plan de Digitalización y Control de Gestión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0591495" y="6528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VISIÓN A FUTURO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Evolución del Proyecto: Próximas Etapas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7C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Camino de crecimiento una vez consolidada la base de gestión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2603754" cy="3657600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167128"/>
            <a:ext cx="22379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6594" y="213055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2466594" y="2130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560320"/>
            <a:ext cx="22379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CRM de Clientes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85800" y="3383280"/>
            <a:ext cx="223799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de funerarias y modelos comprados, para fidelización y comparación de precios.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62706" y="1965960"/>
            <a:ext cx="2603754" cy="3657600"/>
          </a:xfrm>
          <a:prstGeom prst="roundRect">
            <a:avLst>
              <a:gd name="adj" fmla="val 2809"/>
            </a:avLst>
          </a:prstGeom>
          <a:solidFill>
            <a:srgbClr val="E7EEFC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45586" y="2167128"/>
            <a:ext cx="22379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26380" y="213055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326380" y="2130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45586" y="2560320"/>
            <a:ext cx="22379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de Funeraria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545586" y="3383280"/>
            <a:ext cx="223799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Incorporación del nuevo negocio de servicios funerarios a cargo de Rivaldo Pocito.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22492" y="1965960"/>
            <a:ext cx="2603754" cy="3657600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5372" y="2167128"/>
            <a:ext cx="22379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86166" y="213055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8186166" y="2130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5372" y="2560320"/>
            <a:ext cx="22379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Móvil para Trabajadores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405372" y="3383280"/>
            <a:ext cx="223799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asistencia y reportes simples desde el celular, en terreno.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82278" y="1965960"/>
            <a:ext cx="2603754" cy="3657600"/>
          </a:xfrm>
          <a:prstGeom prst="roundRect">
            <a:avLst>
              <a:gd name="adj" fmla="val 2809"/>
            </a:avLst>
          </a:prstGeom>
          <a:solidFill>
            <a:srgbClr val="E7EEFC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265158" y="2167128"/>
            <a:ext cx="22379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1045952" y="213055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11045952" y="2130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265158" y="2560320"/>
            <a:ext cx="22379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Automatización Avanzada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9265158" y="3383280"/>
            <a:ext cx="223799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predictivas de stock y proyecciones financieras a partir del historial.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" y="5852160"/>
            <a:ext cx="11183112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5852160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Visión: convertir a HERMANOS PG SPA en una empresa profesionalizada, capaz de crecer de forma ordenada durante los próximos 10 años.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" y="65288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HERMANOS PG SPA  ·  Plan de Digitalización y Control de Gestión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591495" y="6528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943600" cy="5943600"/>
          </a:xfrm>
          <a:prstGeom prst="ellipse">
            <a:avLst/>
          </a:prstGeom>
          <a:solidFill>
            <a:srgbClr val="263A82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2377440"/>
            <a:ext cx="4754880" cy="4754880"/>
          </a:xfrm>
          <a:prstGeom prst="ellipse">
            <a:avLst/>
          </a:prstGeom>
          <a:solidFill>
            <a:srgbClr val="263A8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85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 PARA LA FAMILIA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“La empresa nos ha dado trabajo durante más de 10 años.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Ahora queremos prepararla para los próximos 10.”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2660904"/>
            <a:ext cx="146304" cy="146304"/>
          </a:xfrm>
          <a:prstGeom prst="ellipse">
            <a:avLst/>
          </a:prstGeom>
          <a:solidFill>
            <a:srgbClr val="B8912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53288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7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familia se respeta, pero la empresa también necesita estructura.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02920" y="3081528"/>
            <a:ext cx="146304" cy="146304"/>
          </a:xfrm>
          <a:prstGeom prst="ellipse">
            <a:avLst/>
          </a:prstGeom>
          <a:solidFill>
            <a:srgbClr val="B8912E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95351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7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dinero de la empresa se controla como dinero de la empresa.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02920" y="3502152"/>
            <a:ext cx="146304" cy="146304"/>
          </a:xfrm>
          <a:prstGeom prst="ellipse">
            <a:avLst/>
          </a:prstGeom>
          <a:solidFill>
            <a:srgbClr val="B8912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37413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7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decisiones se apoyan en datos.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02920" y="3922776"/>
            <a:ext cx="146304" cy="146304"/>
          </a:xfrm>
          <a:prstGeom prst="ellipse">
            <a:avLst/>
          </a:prstGeom>
          <a:solidFill>
            <a:srgbClr val="B8912E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794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7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crecimiento va acompañado de control.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02920" y="4709160"/>
            <a:ext cx="2743200" cy="0"/>
          </a:xfrm>
          <a:prstGeom prst="line">
            <a:avLst/>
          </a:prstGeom>
          <a:noFill/>
          <a:ln w="25400">
            <a:solidFill>
              <a:srgbClr val="B891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892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¡MUCHAS GRACIAS!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02920" y="5394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para preguntas y comentarios de la familia.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6126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HERMANOS PG SPA  ·  Plan de Digitalización y Control de Gestión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Romario Pocito — Tecnología y Control de Gestión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591495" y="6528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2026-09-10T23:51:18Z</dcterms:created>
  <dcterms:modified xsi:type="dcterms:W3CDTF">2026-09-10T23:51:18Z</dcterms:modified>
</cp:coreProperties>
</file>